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F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8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先に帰ってもいいですか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ゆるしをもらう ・ 「〜てもいいですか」「〜てはいけません」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にほんごストーリー  N4 レベル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49440" y="2596896"/>
            <a:ext cx="1280160" cy="822960"/>
          </a:xfrm>
          <a:prstGeom prst="roundRect">
            <a:avLst>
              <a:gd name="adj" fmla="val 1333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77456" y="1682496"/>
            <a:ext cx="1024128" cy="1024128"/>
          </a:xfrm>
          <a:prstGeom prst="ellipse">
            <a:avLst/>
          </a:prstGeom>
          <a:solidFill>
            <a:srgbClr val="F6D2B5"/>
          </a:solidFill>
          <a:ln w="12700">
            <a:solidFill>
              <a:srgbClr val="F6D2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1572768"/>
            <a:ext cx="1097280" cy="548640"/>
          </a:xfrm>
          <a:prstGeom prst="ellipse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1828800"/>
            <a:ext cx="182880" cy="7315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1828800"/>
            <a:ext cx="182880" cy="7315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3488" y="2121408"/>
            <a:ext cx="109728" cy="1097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2121408"/>
            <a:ext cx="109728" cy="1097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1504" y="2432304"/>
            <a:ext cx="256032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きょうの ストーリー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ミナさんは コンビニで アルバイトを しています。きょうは 母の 誕生日です。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コンビニ「サクラマート」  午後6時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280160" cy="228600"/>
          </a:xfrm>
          <a:prstGeom prst="rect">
            <a:avLst/>
          </a:prstGeom>
          <a:solidFill>
            <a:srgbClr val="B7CDD3"/>
          </a:solidFill>
          <a:ln w="12700">
            <a:solidFill>
              <a:srgbClr val="B7C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920240"/>
            <a:ext cx="1280160" cy="228600"/>
          </a:xfrm>
          <a:prstGeom prst="rect">
            <a:avLst/>
          </a:prstGeom>
          <a:solidFill>
            <a:srgbClr val="B7CDD3"/>
          </a:solidFill>
          <a:ln w="12700">
            <a:solidFill>
              <a:srgbClr val="B7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920240"/>
            <a:ext cx="1280160" cy="228600"/>
          </a:xfrm>
          <a:prstGeom prst="rect">
            <a:avLst/>
          </a:prstGeom>
          <a:solidFill>
            <a:srgbClr val="B7CDD3"/>
          </a:solidFill>
          <a:ln w="12700">
            <a:solidFill>
              <a:srgbClr val="B7C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77440"/>
            <a:ext cx="1280160" cy="228600"/>
          </a:xfrm>
          <a:prstGeom prst="rect">
            <a:avLst/>
          </a:prstGeom>
          <a:solidFill>
            <a:srgbClr val="B7CDD3"/>
          </a:solidFill>
          <a:ln w="12700">
            <a:solidFill>
              <a:srgbClr val="B7CD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2377440"/>
            <a:ext cx="1280160" cy="228600"/>
          </a:xfrm>
          <a:prstGeom prst="rect">
            <a:avLst/>
          </a:prstGeom>
          <a:solidFill>
            <a:srgbClr val="B7CDD3"/>
          </a:solidFill>
          <a:ln w="12700">
            <a:solidFill>
              <a:srgbClr val="B7CD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377440"/>
            <a:ext cx="1280160" cy="228600"/>
          </a:xfrm>
          <a:prstGeom prst="rect">
            <a:avLst/>
          </a:prstGeom>
          <a:solidFill>
            <a:srgbClr val="B7CDD3"/>
          </a:solidFill>
          <a:ln w="12700">
            <a:solidFill>
              <a:srgbClr val="B7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3650285"/>
            <a:ext cx="1024128" cy="658368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6269" y="2918765"/>
            <a:ext cx="819302" cy="819302"/>
          </a:xfrm>
          <a:prstGeom prst="ellipse">
            <a:avLst/>
          </a:prstGeom>
          <a:solidFill>
            <a:srgbClr val="F6D2B5"/>
          </a:solidFill>
          <a:ln w="12700">
            <a:solidFill>
              <a:srgbClr val="F6D2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7008" y="2830982"/>
            <a:ext cx="877824" cy="438912"/>
          </a:xfrm>
          <a:prstGeom prst="ellipse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7008" y="3035808"/>
            <a:ext cx="146304" cy="585216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38528" y="3035808"/>
            <a:ext cx="146304" cy="585216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41094" y="3269894"/>
            <a:ext cx="87782" cy="8778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62963" y="3269894"/>
            <a:ext cx="87782" cy="8778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507" y="3518611"/>
            <a:ext cx="204826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ミナ(ベトナム)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85616" y="3650285"/>
            <a:ext cx="1024128" cy="658368"/>
          </a:xfrm>
          <a:prstGeom prst="roundRect">
            <a:avLst>
              <a:gd name="adj" fmla="val 16667"/>
            </a:avLst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8029" y="2918765"/>
            <a:ext cx="819302" cy="819302"/>
          </a:xfrm>
          <a:prstGeom prst="ellipse">
            <a:avLst/>
          </a:prstGeom>
          <a:solidFill>
            <a:srgbClr val="F1C9A5"/>
          </a:solidFill>
          <a:ln w="12700">
            <a:solidFill>
              <a:srgbClr val="F1C9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7290" y="2860243"/>
            <a:ext cx="760781" cy="321869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92854" y="3269894"/>
            <a:ext cx="87782" cy="8778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14723" y="3269894"/>
            <a:ext cx="87782" cy="8778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95267" y="3518611"/>
            <a:ext cx="204826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田中店長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きょうの ゴール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1783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ていねいに ゆるしを もらう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「だめです」を やさしく 言う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ことば 6つ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852160" y="338328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383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ミナさんは 早く 帰りたいです。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店長に 何と 言いますか?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あたらしい ことば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声に出して 読みましょう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さきに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/ before others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600200"/>
            <a:ext cx="457200" cy="45720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帰ります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949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かえります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go home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誕生日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たんじょうび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2514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birthday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423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651760"/>
            <a:ext cx="457200" cy="45720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店長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949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てんちょう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2514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manager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休みます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887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やすみます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take a day off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703320"/>
            <a:ext cx="457200" cy="45720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かまいません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39496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3232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problem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文型 1  〜てもいいですか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ゆるしを もらう(permission)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3D6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動詞 て形</a:t>
            </a:r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＋ </a:t>
            </a:r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 いいですか</a:t>
            </a:r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 帰って も いいですか。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 写真を 撮ってもいいですか。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2606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 take a photo here?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 ペンを 使ってもいいですか。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 use this pen?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あした 休んでもいいですか。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 take tomorrow off?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答え方:  はい、いいですよ。 / はい、どうぞ。 / すみません、ちょっと…。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文型 2  〜てはいけません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だめだと 言う(prohibition)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DE8E2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動詞 て形</a:t>
            </a:r>
            <a:pPr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＋ </a:t>
            </a:r>
            <a:pPr indent="0" marL="0">
              <a:buNone/>
            </a:pPr>
            <a:r>
              <a:rPr lang="en-US" sz="2100" b="1" dirty="0">
                <a:solidFill>
                  <a:srgbClr val="E45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 いけません</a:t>
            </a:r>
            <a:pPr indent="0" marL="0">
              <a:buNone/>
            </a:pPr>
            <a:r>
              <a:rPr lang="en-US" sz="21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 ここで 食べては いけません。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B37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 〜てもいいですか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ゆるしを もらう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「入ってもいいですか」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26060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〜てはいけません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32004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だめだと 言う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「入ってはいけません」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FFC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〜ないでください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32004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やさしく たのむ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「入らないでください」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  「先に 帰っても いいですか」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ミナさんと 田中店長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35508" y="2108606"/>
            <a:ext cx="832104" cy="534924"/>
          </a:xfrm>
          <a:prstGeom prst="roundRect">
            <a:avLst>
              <a:gd name="adj" fmla="val 2051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718" y="1514246"/>
            <a:ext cx="665683" cy="665683"/>
          </a:xfrm>
          <a:prstGeom prst="ellipse">
            <a:avLst/>
          </a:prstGeom>
          <a:solidFill>
            <a:srgbClr val="F6D2B5"/>
          </a:solidFill>
          <a:ln w="12700">
            <a:solidFill>
              <a:srgbClr val="F6D2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442923"/>
            <a:ext cx="713232" cy="356616"/>
          </a:xfrm>
          <a:prstGeom prst="ellipse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609344"/>
            <a:ext cx="118872" cy="475488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9304" y="1609344"/>
            <a:ext cx="118872" cy="475488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5139" y="1799539"/>
            <a:ext cx="71323" cy="71323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658" y="1799539"/>
            <a:ext cx="71323" cy="71323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8350" y="2001622"/>
            <a:ext cx="166421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1417320"/>
            <a:ext cx="5943600" cy="822960"/>
          </a:xfrm>
          <a:prstGeom prst="roundRect">
            <a:avLst>
              <a:gd name="adj" fmla="val 16667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417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店長、すみません。きょうは 母の 誕生日なので、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7時に 先に 帰っても いいですか。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76388" y="3068726"/>
            <a:ext cx="832104" cy="534924"/>
          </a:xfrm>
          <a:prstGeom prst="roundRect">
            <a:avLst>
              <a:gd name="adj" fmla="val 20513"/>
            </a:avLst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9598" y="2474366"/>
            <a:ext cx="665683" cy="665683"/>
          </a:xfrm>
          <a:prstGeom prst="ellipse">
            <a:avLst/>
          </a:prstGeom>
          <a:solidFill>
            <a:srgbClr val="F1C9A5"/>
          </a:solidFill>
          <a:ln w="12700">
            <a:solidFill>
              <a:srgbClr val="F1C9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3373" y="2426818"/>
            <a:ext cx="618134" cy="261518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26019" y="2759659"/>
            <a:ext cx="71323" cy="71323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7538" y="2759659"/>
            <a:ext cx="71323" cy="71323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9230" y="2961742"/>
            <a:ext cx="166421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田中店長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2377440"/>
            <a:ext cx="5943600" cy="640080"/>
          </a:xfrm>
          <a:prstGeom prst="roundRect">
            <a:avLst>
              <a:gd name="adj" fmla="val 21429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2377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7時ですか…。はい、かまいませんよ。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371600" y="3108960"/>
            <a:ext cx="5943600" cy="640080"/>
          </a:xfrm>
          <a:prstGeom prst="roundRect">
            <a:avLst>
              <a:gd name="adj" fmla="val 21429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31089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でも、レジの お金は 数えてから 帰ってくださいね。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1520" y="4224528"/>
            <a:ext cx="640080" cy="41148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3767328"/>
            <a:ext cx="512064" cy="512064"/>
          </a:xfrm>
          <a:prstGeom prst="ellipse">
            <a:avLst/>
          </a:prstGeom>
          <a:solidFill>
            <a:srgbClr val="F6D2B5"/>
          </a:solidFill>
          <a:ln w="12700">
            <a:solidFill>
              <a:srgbClr val="F6D2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3712464"/>
            <a:ext cx="548640" cy="274320"/>
          </a:xfrm>
          <a:prstGeom prst="ellipse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3840480"/>
            <a:ext cx="91440" cy="36576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3840480"/>
            <a:ext cx="91440" cy="36576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3544" y="3986784"/>
            <a:ext cx="54864" cy="5486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4712" y="3986784"/>
            <a:ext cx="54864" cy="5486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" y="4142232"/>
            <a:ext cx="128016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3794760"/>
            <a:ext cx="5943600" cy="640080"/>
          </a:xfrm>
          <a:prstGeom prst="roundRect">
            <a:avLst>
              <a:gd name="adj" fmla="val 21429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65960" y="37947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はい、わかりました。ありがとうございます!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理由(〜ので)を 先に 言うと、ていねいに 聞こえます。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 1  言ってみましょう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絵を 見て、「〜てもいいですか」で 聞きます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6002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7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002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(イラスト)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 窓 ・ 開けます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窓を ＿＿＿＿ いいですか。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6002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7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6002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(イラスト)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 ここ ・ 座ります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 ＿＿＿＿ いいですか。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6002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7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6002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(イラスト)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 電話 ・ かけます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電話を ＿＿＿＿ いいですか。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答え: ① 開けても  ② 座っても  ③ かけても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 2  どちらが いいですか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か × か 選びましょう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病院で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3716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大きい 声で 話しても いいですか。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13716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話しては いけません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図書館で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1488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本を 借りても いいですか。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35040" y="21488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B37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 借りても いいです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電車の 中で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2926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電話を かけても いいですか。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29260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かけては いけません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03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公園で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3703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お弁当を 食べても いいですか。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0" y="3703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B37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 食べても いいです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動画では 答えは クリックで 表示(アニメーション設定は 納品時に)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きょうの まとめ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〜てもいいですか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06240" y="1371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ゆるしを もらう。理由(〜ので)を 先に 言う。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〜てはいけません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06240" y="2331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だめだと はっきり 言う。看板や ルールに 多い。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F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かまいません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06240" y="3291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「いいですよ」の ていねいな 言い方。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3EEF1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 第13課:  「レジを 教えていただけませんか」 ― もっと ていねいに たのむ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制作メモ(納品時に添付する一覧の例)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7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フォント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Meiryo(Windows標準)、Arial。実案件では指定フォントに差し替え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画像・イラスト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本サンプルは図形のみ(外部画像なし)。実案件では支給のキャラクター基準画像と、商用利用可のフリー素材のみ使用し出典を明記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生成AIツール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Claude(構成・文例・スライドの組み立て)。画像生成AIは未使用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確認したこと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文型・語彙がN4範囲か(日本語能力試験の出題基準に照合)、ふりがな、例文の自然さ、文字サイズ(本文14pt以上)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編集可能性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全要素がPowerPointのネイティブ図形・テキスト。色・文言・配置はそのまま変更できる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2026-09-16T00:58:12Z</dcterms:created>
  <dcterms:modified xsi:type="dcterms:W3CDTF">2026-09-16T00:58:12Z</dcterms:modified>
</cp:coreProperties>
</file>